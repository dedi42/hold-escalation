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400800" cy="3521075"/>
  <p:notesSz cx="3521075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574A"/>
    <a:srgbClr val="E8E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7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99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364D9A7-7BE1-972F-E289-B6B394546186}"/>
              </a:ext>
            </a:extLst>
          </p:cNvPr>
          <p:cNvGrpSpPr/>
          <p:nvPr/>
        </p:nvGrpSpPr>
        <p:grpSpPr>
          <a:xfrm>
            <a:off x="136878" y="256288"/>
            <a:ext cx="5918213" cy="2505199"/>
            <a:chOff x="136878" y="256288"/>
            <a:chExt cx="5918213" cy="2505199"/>
          </a:xfrm>
        </p:grpSpPr>
        <p:sp>
          <p:nvSpPr>
            <p:cNvPr id="47" name="text 46"/>
            <p:cNvSpPr txBox="1"/>
            <p:nvPr/>
          </p:nvSpPr>
          <p:spPr>
            <a:xfrm>
              <a:off x="136878" y="2355087"/>
              <a:ext cx="148132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i="1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6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(</a:t>
              </a:r>
              <a:r>
                <a:rPr lang="en-US" sz="600" i="1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t) ↓ : old holds stay</a:t>
              </a:r>
              <a:endParaRPr lang="en-US" sz="60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F8001DF-8B3B-D1EF-B737-EBE71244E27D}"/>
                </a:ext>
              </a:extLst>
            </p:cNvPr>
            <p:cNvGrpSpPr/>
            <p:nvPr/>
          </p:nvGrpSpPr>
          <p:grpSpPr>
            <a:xfrm>
              <a:off x="352040" y="256288"/>
              <a:ext cx="5703051" cy="2505199"/>
              <a:chOff x="402890" y="542750"/>
              <a:chExt cx="5703051" cy="2505199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AF6AFCE4-3A1E-D355-7B1C-3058ABF6D68E}"/>
                  </a:ext>
                </a:extLst>
              </p:cNvPr>
              <p:cNvGrpSpPr/>
              <p:nvPr/>
            </p:nvGrpSpPr>
            <p:grpSpPr>
              <a:xfrm>
                <a:off x="402890" y="542750"/>
                <a:ext cx="5660410" cy="859535"/>
                <a:chOff x="410749" y="510922"/>
                <a:chExt cx="5660410" cy="859535"/>
              </a:xfrm>
            </p:grpSpPr>
            <p:sp>
              <p:nvSpPr>
                <p:cNvPr id="2" name="text 1"/>
                <p:cNvSpPr txBox="1"/>
                <p:nvPr/>
              </p:nvSpPr>
              <p:spPr>
                <a:xfrm>
                  <a:off x="480580" y="602362"/>
                  <a:ext cx="13716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750" b="1" i="1" kern="0" spc="150" dirty="0"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In The Line</a:t>
                  </a:r>
                  <a:endParaRPr lang="en-US" sz="900" i="1" dirty="0"/>
                </a:p>
              </p:txBody>
            </p:sp>
            <p:sp>
              <p:nvSpPr>
                <p:cNvPr id="3" name="text 2"/>
                <p:cNvSpPr txBox="1"/>
                <p:nvPr/>
              </p:nvSpPr>
              <p:spPr>
                <a:xfrm>
                  <a:off x="410749" y="922401"/>
                  <a:ext cx="27432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b="1" i="1" dirty="0">
                      <a:solidFill>
                        <a:srgbClr val="595959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Lot</a:t>
                  </a:r>
                  <a:endParaRPr lang="en-US" sz="900" i="1" dirty="0"/>
                </a:p>
              </p:txBody>
            </p:sp>
            <p:sp>
              <p:nvSpPr>
                <p:cNvPr id="4" name="step j 3"/>
                <p:cNvSpPr/>
                <p:nvPr/>
              </p:nvSpPr>
              <p:spPr>
                <a:xfrm>
                  <a:off x="685069" y="922401"/>
                  <a:ext cx="868680" cy="219456"/>
                </a:xfrm>
                <a:prstGeom prst="rect">
                  <a:avLst/>
                </a:prstGeom>
                <a:solidFill>
                  <a:srgbClr val="F4F4F4"/>
                </a:solidFill>
                <a:ln w="9525">
                  <a:solidFill>
                    <a:srgbClr val="59595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" name="text 4"/>
                <p:cNvSpPr txBox="1"/>
                <p:nvPr/>
              </p:nvSpPr>
              <p:spPr>
                <a:xfrm>
                  <a:off x="685069" y="922401"/>
                  <a:ext cx="86868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595959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step </a:t>
                  </a:r>
                  <a:r>
                    <a:rPr lang="en-US" sz="850" i="1" dirty="0">
                      <a:solidFill>
                        <a:srgbClr val="595959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j</a:t>
                  </a:r>
                  <a:endParaRPr lang="en-US" sz="850" dirty="0"/>
                </a:p>
              </p:txBody>
            </p:sp>
            <p:sp>
              <p:nvSpPr>
                <p:cNvPr id="6" name="hold so far 5"/>
                <p:cNvSpPr/>
                <p:nvPr/>
              </p:nvSpPr>
              <p:spPr>
                <a:xfrm>
                  <a:off x="1553749" y="922401"/>
                  <a:ext cx="1600200" cy="219456"/>
                </a:xfrm>
                <a:prstGeom prst="rect">
                  <a:avLst/>
                </a:prstGeom>
                <a:solidFill>
                  <a:srgbClr val="F4E6E3"/>
                </a:solidFill>
                <a:ln w="9525">
                  <a:solidFill>
                    <a:srgbClr val="A0574A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" name="text 6"/>
                <p:cNvSpPr txBox="1"/>
                <p:nvPr/>
              </p:nvSpPr>
              <p:spPr>
                <a:xfrm>
                  <a:off x="1553749" y="922401"/>
                  <a:ext cx="160020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A0574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on hold</a:t>
                  </a:r>
                  <a:endParaRPr lang="en-US" sz="900" dirty="0"/>
                </a:p>
              </p:txBody>
            </p:sp>
            <p:sp>
              <p:nvSpPr>
                <p:cNvPr id="8" name="connector 7"/>
                <p:cNvSpPr/>
                <p:nvPr/>
              </p:nvSpPr>
              <p:spPr>
                <a:xfrm>
                  <a:off x="1553749" y="858393"/>
                  <a:ext cx="1600200" cy="0"/>
                </a:xfrm>
                <a:prstGeom prst="line">
                  <a:avLst/>
                </a:prstGeom>
                <a:noFill/>
                <a:ln w="6350">
                  <a:solidFill>
                    <a:srgbClr val="59595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connector 8"/>
                <p:cNvSpPr/>
                <p:nvPr/>
              </p:nvSpPr>
              <p:spPr>
                <a:xfrm>
                  <a:off x="1553749" y="821817"/>
                  <a:ext cx="0" cy="73152"/>
                </a:xfrm>
                <a:prstGeom prst="line">
                  <a:avLst/>
                </a:prstGeom>
                <a:noFill/>
                <a:ln w="6350">
                  <a:solidFill>
                    <a:srgbClr val="59595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connector 9"/>
                <p:cNvSpPr/>
                <p:nvPr/>
              </p:nvSpPr>
              <p:spPr>
                <a:xfrm>
                  <a:off x="3153949" y="821817"/>
                  <a:ext cx="0" cy="73152"/>
                </a:xfrm>
                <a:prstGeom prst="line">
                  <a:avLst/>
                </a:prstGeom>
                <a:noFill/>
                <a:ln w="6350">
                  <a:solidFill>
                    <a:srgbClr val="59595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text 10"/>
                <p:cNvSpPr txBox="1"/>
                <p:nvPr/>
              </p:nvSpPr>
              <p:spPr>
                <a:xfrm>
                  <a:off x="2216689" y="675513"/>
                  <a:ext cx="27432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i="1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e</a:t>
                  </a:r>
                  <a:r>
                    <a:rPr lang="en-US" sz="900" i="1" baseline="-40000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i</a:t>
                  </a:r>
                  <a:endParaRPr lang="en-US" sz="900" dirty="0"/>
                </a:p>
              </p:txBody>
            </p:sp>
            <p:sp>
              <p:nvSpPr>
                <p:cNvPr id="12" name="connector 11"/>
                <p:cNvSpPr/>
                <p:nvPr/>
              </p:nvSpPr>
              <p:spPr>
                <a:xfrm flipV="1">
                  <a:off x="3153949" y="840105"/>
                  <a:ext cx="109728" cy="192024"/>
                </a:xfrm>
                <a:prstGeom prst="line">
                  <a:avLst/>
                </a:prstGeom>
                <a:noFill/>
                <a:ln w="12700">
                  <a:solidFill>
                    <a:srgbClr val="A0574A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connector 12"/>
                <p:cNvSpPr/>
                <p:nvPr/>
              </p:nvSpPr>
              <p:spPr>
                <a:xfrm>
                  <a:off x="3153949" y="1032129"/>
                  <a:ext cx="109728" cy="192024"/>
                </a:xfrm>
                <a:prstGeom prst="line">
                  <a:avLst/>
                </a:prstGeom>
                <a:noFill/>
                <a:ln w="12700">
                  <a:solidFill>
                    <a:srgbClr val="4E7D5B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escalated: short 13"/>
                <p:cNvSpPr/>
                <p:nvPr/>
              </p:nvSpPr>
              <p:spPr>
                <a:xfrm>
                  <a:off x="3263677" y="730377"/>
                  <a:ext cx="1302746" cy="219456"/>
                </a:xfrm>
                <a:prstGeom prst="rect">
                  <a:avLst/>
                </a:prstGeom>
                <a:solidFill>
                  <a:srgbClr val="F4E6E3"/>
                </a:solidFill>
                <a:ln w="9525">
                  <a:solidFill>
                    <a:srgbClr val="A0574A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text 14"/>
                <p:cNvSpPr txBox="1"/>
                <p:nvPr/>
              </p:nvSpPr>
              <p:spPr>
                <a:xfrm>
                  <a:off x="3258831" y="721994"/>
                  <a:ext cx="1307592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800" b="1" i="1" dirty="0">
                      <a:solidFill>
                        <a:srgbClr val="A0574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Escalate: </a:t>
                  </a:r>
                  <a:r>
                    <a:rPr lang="en-US" sz="650" i="1" dirty="0">
                      <a:solidFill>
                        <a:srgbClr val="A0574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ends after δ </a:t>
                  </a:r>
                  <a:r>
                    <a:rPr lang="en-US" sz="650" i="1" dirty="0">
                      <a:solidFill>
                        <a:srgbClr val="A0574A"/>
                      </a:solidFill>
                    </a:rPr>
                    <a:t>with prob.</a:t>
                  </a:r>
                  <a:r>
                    <a:rPr lang="en-US" sz="650" i="1" dirty="0">
                      <a:solidFill>
                        <a:srgbClr val="A0574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 α</a:t>
                  </a:r>
                  <a:endParaRPr lang="en-US" sz="650" i="1" dirty="0"/>
                </a:p>
              </p:txBody>
            </p:sp>
            <p:sp>
              <p:nvSpPr>
                <p:cNvPr id="17" name="waiting: long 16"/>
                <p:cNvSpPr/>
                <p:nvPr/>
              </p:nvSpPr>
              <p:spPr>
                <a:xfrm>
                  <a:off x="3263677" y="1114425"/>
                  <a:ext cx="1307592" cy="21945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4E7D5B"/>
                  </a:solidFill>
                  <a:prstDash val="dash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text 17"/>
                <p:cNvSpPr txBox="1"/>
                <p:nvPr/>
              </p:nvSpPr>
              <p:spPr>
                <a:xfrm>
                  <a:off x="3318541" y="1114425"/>
                  <a:ext cx="1307592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800" b="1" i="1" dirty="0">
                      <a:solidFill>
                        <a:srgbClr val="4E7D5B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Wait</a:t>
                  </a:r>
                  <a:r>
                    <a:rPr lang="en-US" sz="750" b="1" i="1" dirty="0">
                      <a:solidFill>
                        <a:srgbClr val="8C8C8C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:  </a:t>
                  </a:r>
                  <a:r>
                    <a:rPr lang="en-US" sz="750" i="1" dirty="0">
                      <a:solidFill>
                        <a:srgbClr val="8C8C8C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remaining time unknown</a:t>
                  </a:r>
                  <a:endParaRPr lang="en-US" sz="900" dirty="0"/>
                </a:p>
              </p:txBody>
            </p:sp>
            <p:sp>
              <p:nvSpPr>
                <p:cNvPr id="19" name="connector 18"/>
                <p:cNvSpPr/>
                <p:nvPr/>
              </p:nvSpPr>
              <p:spPr>
                <a:xfrm>
                  <a:off x="4594129" y="849249"/>
                  <a:ext cx="260604" cy="137160"/>
                </a:xfrm>
                <a:prstGeom prst="line">
                  <a:avLst/>
                </a:prstGeom>
                <a:noFill/>
                <a:ln w="9525">
                  <a:solidFill>
                    <a:srgbClr val="595959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connector 19"/>
                <p:cNvSpPr/>
                <p:nvPr/>
              </p:nvSpPr>
              <p:spPr>
                <a:xfrm flipV="1">
                  <a:off x="4594129" y="1096136"/>
                  <a:ext cx="242316" cy="132589"/>
                </a:xfrm>
                <a:prstGeom prst="line">
                  <a:avLst/>
                </a:prstGeom>
                <a:noFill/>
                <a:ln w="9525">
                  <a:solidFill>
                    <a:srgbClr val="595959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step j+1 20"/>
                <p:cNvSpPr/>
                <p:nvPr/>
              </p:nvSpPr>
              <p:spPr>
                <a:xfrm>
                  <a:off x="4882439" y="910971"/>
                  <a:ext cx="914400" cy="219456"/>
                </a:xfrm>
                <a:prstGeom prst="rect">
                  <a:avLst/>
                </a:prstGeom>
                <a:solidFill>
                  <a:srgbClr val="F4F4F4"/>
                </a:solidFill>
                <a:ln w="9525">
                  <a:solidFill>
                    <a:srgbClr val="59595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text 21"/>
                <p:cNvSpPr txBox="1"/>
                <p:nvPr/>
              </p:nvSpPr>
              <p:spPr>
                <a:xfrm>
                  <a:off x="4882439" y="910971"/>
                  <a:ext cx="91440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595959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step </a:t>
                  </a:r>
                  <a:r>
                    <a:rPr lang="en-US" sz="850" i="1" dirty="0">
                      <a:solidFill>
                        <a:srgbClr val="595959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j</a:t>
                  </a:r>
                  <a:r>
                    <a:rPr lang="en-US" sz="850" dirty="0">
                      <a:solidFill>
                        <a:srgbClr val="595959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 + 1</a:t>
                  </a:r>
                  <a:endParaRPr lang="en-US" sz="850" dirty="0"/>
                </a:p>
              </p:txBody>
            </p:sp>
            <p:sp>
              <p:nvSpPr>
                <p:cNvPr id="23" name="connector 22"/>
                <p:cNvSpPr/>
                <p:nvPr/>
              </p:nvSpPr>
              <p:spPr>
                <a:xfrm>
                  <a:off x="5796839" y="1020699"/>
                  <a:ext cx="274320" cy="0"/>
                </a:xfrm>
                <a:prstGeom prst="line">
                  <a:avLst/>
                </a:prstGeom>
                <a:noFill/>
                <a:ln w="12700">
                  <a:solidFill>
                    <a:srgbClr val="595959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connector 23"/>
                <p:cNvSpPr/>
                <p:nvPr/>
              </p:nvSpPr>
              <p:spPr>
                <a:xfrm>
                  <a:off x="3153949" y="593217"/>
                  <a:ext cx="0" cy="777240"/>
                </a:xfrm>
                <a:prstGeom prst="line">
                  <a:avLst/>
                </a:prstGeom>
                <a:noFill/>
                <a:ln w="15875">
                  <a:solidFill>
                    <a:srgbClr val="2F5D8A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text 24"/>
                <p:cNvSpPr txBox="1"/>
                <p:nvPr/>
              </p:nvSpPr>
              <p:spPr>
                <a:xfrm>
                  <a:off x="3044221" y="510922"/>
                  <a:ext cx="27432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b="1" i="1" dirty="0">
                      <a:solidFill>
                        <a:srgbClr val="2F5D8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t</a:t>
                  </a:r>
                  <a:r>
                    <a:rPr lang="en-US" sz="900" b="1" i="1" baseline="-40000" dirty="0">
                      <a:solidFill>
                        <a:srgbClr val="2F5D8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k</a:t>
                  </a:r>
                  <a:endParaRPr lang="en-US" sz="900" dirty="0"/>
                </a:p>
              </p:txBody>
            </p:sp>
            <p:sp>
              <p:nvSpPr>
                <p:cNvPr id="26" name="text 25"/>
                <p:cNvSpPr txBox="1"/>
                <p:nvPr/>
              </p:nvSpPr>
              <p:spPr>
                <a:xfrm>
                  <a:off x="2116105" y="1177480"/>
                  <a:ext cx="100584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50" i="1" dirty="0">
                      <a:solidFill>
                        <a:srgbClr val="2F5D8A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Review every Δ</a:t>
                  </a:r>
                  <a:endParaRPr lang="en-US" sz="900" dirty="0"/>
                </a:p>
              </p:txBody>
            </p:sp>
          </p:grpSp>
          <p:sp>
            <p:nvSpPr>
              <p:cNvPr id="32" name="text 31"/>
              <p:cNvSpPr txBox="1"/>
              <p:nvPr/>
            </p:nvSpPr>
            <p:spPr>
              <a:xfrm>
                <a:off x="1980139" y="1383997"/>
                <a:ext cx="647396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i="1" kern="0" spc="150" dirty="0"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2.Predict</a:t>
                </a:r>
                <a:endParaRPr lang="en-US" sz="900" i="1" dirty="0"/>
              </a:p>
            </p:txBody>
          </p:sp>
          <p:sp>
            <p:nvSpPr>
              <p:cNvPr id="33" name="text 32"/>
              <p:cNvSpPr txBox="1"/>
              <p:nvPr/>
            </p:nvSpPr>
            <p:spPr>
              <a:xfrm>
                <a:off x="3044501" y="1531619"/>
                <a:ext cx="1527048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i="1" kern="0" spc="15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3.Decide</a:t>
                </a:r>
                <a:endParaRPr lang="en-US" sz="900" i="1" dirty="0"/>
              </a:p>
            </p:txBody>
          </p:sp>
          <p:sp>
            <p:nvSpPr>
              <p:cNvPr id="34" name="text 33"/>
              <p:cNvSpPr txBox="1"/>
              <p:nvPr/>
            </p:nvSpPr>
            <p:spPr>
              <a:xfrm>
                <a:off x="4598228" y="1594915"/>
                <a:ext cx="14904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i="1" kern="0" spc="150" dirty="0"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4.Validate</a:t>
                </a:r>
                <a:endParaRPr lang="en-US" sz="900" i="1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12706D4A-13EA-AC9F-B3EA-6C0CA4B74895}"/>
                  </a:ext>
                </a:extLst>
              </p:cNvPr>
              <p:cNvGrpSpPr/>
              <p:nvPr/>
            </p:nvGrpSpPr>
            <p:grpSpPr>
              <a:xfrm>
                <a:off x="507499" y="1512879"/>
                <a:ext cx="966383" cy="1140648"/>
                <a:chOff x="361211" y="1583172"/>
                <a:chExt cx="1180855" cy="1379484"/>
              </a:xfrm>
            </p:grpSpPr>
            <p:sp>
              <p:nvSpPr>
                <p:cNvPr id="31" name="text 30"/>
                <p:cNvSpPr txBox="1"/>
                <p:nvPr/>
              </p:nvSpPr>
              <p:spPr>
                <a:xfrm>
                  <a:off x="525780" y="1583172"/>
                  <a:ext cx="944691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 i="1" kern="0" spc="150" dirty="0"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1.Understand</a:t>
                  </a:r>
                  <a:endParaRPr lang="en-US" sz="900" i="1" dirty="0"/>
                </a:p>
              </p:txBody>
            </p:sp>
            <p:sp>
              <p:nvSpPr>
                <p:cNvPr id="35" name="connector 34"/>
                <p:cNvSpPr/>
                <p:nvPr/>
              </p:nvSpPr>
              <p:spPr>
                <a:xfrm>
                  <a:off x="384048" y="2962656"/>
                  <a:ext cx="1051560" cy="0"/>
                </a:xfrm>
                <a:prstGeom prst="line">
                  <a:avLst/>
                </a:prstGeom>
                <a:noFill/>
                <a:ln w="9525">
                  <a:solidFill>
                    <a:srgbClr val="26262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connector 35"/>
                <p:cNvSpPr/>
                <p:nvPr/>
              </p:nvSpPr>
              <p:spPr>
                <a:xfrm flipV="1">
                  <a:off x="384048" y="1819656"/>
                  <a:ext cx="0" cy="1143000"/>
                </a:xfrm>
                <a:prstGeom prst="line">
                  <a:avLst/>
                </a:prstGeom>
                <a:noFill/>
                <a:ln w="9525">
                  <a:solidFill>
                    <a:srgbClr val="262626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connector 36"/>
                <p:cNvSpPr/>
                <p:nvPr/>
              </p:nvSpPr>
              <p:spPr>
                <a:xfrm flipV="1">
                  <a:off x="429768" y="1911096"/>
                  <a:ext cx="914400" cy="1005840"/>
                </a:xfrm>
                <a:prstGeom prst="line">
                  <a:avLst/>
                </a:prstGeom>
                <a:noFill/>
                <a:ln w="9525">
                  <a:solidFill>
                    <a:srgbClr val="8C8C8C"/>
                  </a:solidFill>
                  <a:prstDash val="dash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median remaining 37"/>
                <p:cNvSpPr/>
                <p:nvPr/>
              </p:nvSpPr>
              <p:spPr>
                <a:xfrm>
                  <a:off x="452628" y="2560320"/>
                  <a:ext cx="73152" cy="73152"/>
                </a:xfrm>
                <a:prstGeom prst="ellipse">
                  <a:avLst/>
                </a:prstGeom>
                <a:solidFill>
                  <a:srgbClr val="2F5D8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median remaining 38"/>
                <p:cNvSpPr/>
                <p:nvPr/>
              </p:nvSpPr>
              <p:spPr>
                <a:xfrm>
                  <a:off x="610362" y="2491740"/>
                  <a:ext cx="73152" cy="73152"/>
                </a:xfrm>
                <a:prstGeom prst="ellipse">
                  <a:avLst/>
                </a:prstGeom>
                <a:solidFill>
                  <a:srgbClr val="2F5D8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median remaining 39"/>
                <p:cNvSpPr/>
                <p:nvPr/>
              </p:nvSpPr>
              <p:spPr>
                <a:xfrm>
                  <a:off x="768096" y="2411730"/>
                  <a:ext cx="73152" cy="73152"/>
                </a:xfrm>
                <a:prstGeom prst="ellipse">
                  <a:avLst/>
                </a:prstGeom>
                <a:solidFill>
                  <a:srgbClr val="2F5D8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median remaining 40"/>
                <p:cNvSpPr/>
                <p:nvPr/>
              </p:nvSpPr>
              <p:spPr>
                <a:xfrm>
                  <a:off x="925830" y="2297430"/>
                  <a:ext cx="73152" cy="73152"/>
                </a:xfrm>
                <a:prstGeom prst="ellipse">
                  <a:avLst/>
                </a:prstGeom>
                <a:solidFill>
                  <a:srgbClr val="2F5D8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median remaining 41"/>
                <p:cNvSpPr/>
                <p:nvPr/>
              </p:nvSpPr>
              <p:spPr>
                <a:xfrm>
                  <a:off x="1083564" y="2148840"/>
                  <a:ext cx="73152" cy="73152"/>
                </a:xfrm>
                <a:prstGeom prst="ellipse">
                  <a:avLst/>
                </a:prstGeom>
                <a:solidFill>
                  <a:srgbClr val="2F5D8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median remaining 42"/>
                <p:cNvSpPr/>
                <p:nvPr/>
              </p:nvSpPr>
              <p:spPr>
                <a:xfrm>
                  <a:off x="1241298" y="1943100"/>
                  <a:ext cx="73152" cy="73152"/>
                </a:xfrm>
                <a:prstGeom prst="ellipse">
                  <a:avLst/>
                </a:prstGeom>
                <a:solidFill>
                  <a:srgbClr val="2F5D8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text 43"/>
                <p:cNvSpPr txBox="1"/>
                <p:nvPr/>
              </p:nvSpPr>
              <p:spPr>
                <a:xfrm>
                  <a:off x="1344168" y="2770633"/>
                  <a:ext cx="182881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i="1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e</a:t>
                  </a:r>
                  <a:endParaRPr lang="en-US" sz="900" dirty="0"/>
                </a:p>
              </p:txBody>
            </p:sp>
            <p:sp>
              <p:nvSpPr>
                <p:cNvPr id="45" name="text 44"/>
                <p:cNvSpPr txBox="1"/>
                <p:nvPr/>
              </p:nvSpPr>
              <p:spPr>
                <a:xfrm>
                  <a:off x="361211" y="1780231"/>
                  <a:ext cx="457199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i="1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m</a:t>
                  </a:r>
                  <a:r>
                    <a:rPr lang="en-US" sz="900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(</a:t>
                  </a:r>
                  <a:r>
                    <a:rPr lang="en-US" sz="900" i="1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e</a:t>
                  </a:r>
                  <a:r>
                    <a:rPr lang="en-US" sz="900" dirty="0">
                      <a:solidFill>
                        <a:srgbClr val="262626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)</a:t>
                  </a:r>
                  <a:endParaRPr lang="en-US" sz="900" dirty="0"/>
                </a:p>
              </p:txBody>
            </p:sp>
            <p:sp>
              <p:nvSpPr>
                <p:cNvPr id="46" name="text 45"/>
                <p:cNvSpPr txBox="1"/>
                <p:nvPr/>
              </p:nvSpPr>
              <p:spPr>
                <a:xfrm>
                  <a:off x="1176306" y="1796796"/>
                  <a:ext cx="36576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00" i="1" dirty="0">
                      <a:solidFill>
                        <a:srgbClr val="8C8C8C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m</a:t>
                  </a:r>
                  <a:r>
                    <a:rPr lang="en-US" sz="800" dirty="0">
                      <a:solidFill>
                        <a:srgbClr val="8C8C8C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 = </a:t>
                  </a:r>
                  <a:r>
                    <a:rPr lang="en-US" sz="800" i="1" dirty="0">
                      <a:solidFill>
                        <a:srgbClr val="8C8C8C"/>
                      </a:solidFill>
                      <a:latin typeface="Times New Roman" pitchFamily="34" charset="0"/>
                      <a:ea typeface="Times New Roman" pitchFamily="34" charset="-122"/>
                      <a:cs typeface="Times New Roman" pitchFamily="34" charset="-120"/>
                    </a:rPr>
                    <a:t>e</a:t>
                  </a:r>
                  <a:endParaRPr lang="en-US" sz="800" dirty="0"/>
                </a:p>
              </p:txBody>
            </p:sp>
          </p:grpSp>
          <p:sp>
            <p:nvSpPr>
              <p:cNvPr id="48" name="connector 47"/>
              <p:cNvSpPr/>
              <p:nvPr/>
            </p:nvSpPr>
            <p:spPr>
              <a:xfrm>
                <a:off x="1403153" y="2253995"/>
                <a:ext cx="201168" cy="0"/>
              </a:xfrm>
              <a:prstGeom prst="line">
                <a:avLst/>
              </a:prstGeom>
              <a:noFill/>
              <a:ln w="12700">
                <a:solidFill>
                  <a:srgbClr val="59595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 48"/>
              <p:cNvSpPr txBox="1"/>
              <p:nvPr/>
            </p:nvSpPr>
            <p:spPr>
              <a:xfrm>
                <a:off x="1796345" y="1525540"/>
                <a:ext cx="126187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i="1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x</a:t>
                </a:r>
                <a:r>
                  <a:rPr lang="en-US" sz="713" i="1" baseline="-400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</a:t>
                </a:r>
                <a:r>
                  <a:rPr lang="en-US" sz="95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</a:t>
                </a:r>
                <a:r>
                  <a:rPr lang="en-US" sz="950" i="1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t</a:t>
                </a:r>
                <a:r>
                  <a:rPr lang="en-US" sz="713" i="1" baseline="-400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k</a:t>
                </a:r>
                <a:r>
                  <a:rPr lang="en-US" sz="95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</a:t>
                </a:r>
                <a:endParaRPr lang="en-US" sz="900" dirty="0"/>
              </a:p>
            </p:txBody>
          </p:sp>
          <p:sp>
            <p:nvSpPr>
              <p:cNvPr id="50" name="roundRect 49"/>
              <p:cNvSpPr/>
              <p:nvPr/>
            </p:nvSpPr>
            <p:spPr>
              <a:xfrm>
                <a:off x="1659185" y="1773935"/>
                <a:ext cx="1261872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59595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50"/>
              <p:cNvSpPr txBox="1"/>
              <p:nvPr/>
            </p:nvSpPr>
            <p:spPr>
              <a:xfrm>
                <a:off x="1659185" y="1773935"/>
                <a:ext cx="1261872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Onset GBM</a:t>
                </a:r>
                <a:endParaRPr lang="en-US" sz="900" dirty="0"/>
              </a:p>
            </p:txBody>
          </p:sp>
          <p:sp>
            <p:nvSpPr>
              <p:cNvPr id="52" name="roundRect 51"/>
              <p:cNvSpPr/>
              <p:nvPr/>
            </p:nvSpPr>
            <p:spPr>
              <a:xfrm>
                <a:off x="1659185" y="2121407"/>
                <a:ext cx="1261872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59595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 52"/>
              <p:cNvSpPr txBox="1"/>
              <p:nvPr/>
            </p:nvSpPr>
            <p:spPr>
              <a:xfrm>
                <a:off x="1659185" y="2121407"/>
                <a:ext cx="1261872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Landmark GBM</a:t>
                </a:r>
                <a:endParaRPr lang="en-US" sz="900" dirty="0"/>
              </a:p>
            </p:txBody>
          </p:sp>
          <p:sp>
            <p:nvSpPr>
              <p:cNvPr id="54" name="roundRect 53"/>
              <p:cNvSpPr/>
              <p:nvPr/>
            </p:nvSpPr>
            <p:spPr>
              <a:xfrm>
                <a:off x="1659185" y="2468879"/>
                <a:ext cx="1261872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8C8C8C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 54"/>
              <p:cNvSpPr txBox="1"/>
              <p:nvPr/>
            </p:nvSpPr>
            <p:spPr>
              <a:xfrm>
                <a:off x="1659185" y="2468879"/>
                <a:ext cx="1261872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i="1" dirty="0">
                    <a:solidFill>
                      <a:srgbClr val="8C8C8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deep (benchmark)</a:t>
                </a:r>
                <a:endParaRPr lang="en-US" sz="900" dirty="0"/>
              </a:p>
            </p:txBody>
          </p:sp>
          <p:sp>
            <p:nvSpPr>
              <p:cNvPr id="56" name="connector 55"/>
              <p:cNvSpPr/>
              <p:nvPr/>
            </p:nvSpPr>
            <p:spPr>
              <a:xfrm>
                <a:off x="2290121" y="1636775"/>
                <a:ext cx="0" cy="132588"/>
              </a:xfrm>
              <a:prstGeom prst="line">
                <a:avLst/>
              </a:prstGeom>
              <a:noFill/>
              <a:ln w="12700">
                <a:solidFill>
                  <a:srgbClr val="59595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connector 56"/>
              <p:cNvSpPr/>
              <p:nvPr/>
            </p:nvSpPr>
            <p:spPr>
              <a:xfrm>
                <a:off x="2290121" y="2761487"/>
                <a:ext cx="0" cy="137160"/>
              </a:xfrm>
              <a:prstGeom prst="line">
                <a:avLst/>
              </a:prstGeom>
              <a:noFill/>
              <a:ln w="12700">
                <a:solidFill>
                  <a:srgbClr val="59595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connector 58"/>
              <p:cNvSpPr/>
              <p:nvPr/>
            </p:nvSpPr>
            <p:spPr>
              <a:xfrm>
                <a:off x="2957633" y="2253995"/>
                <a:ext cx="201168" cy="0"/>
              </a:xfrm>
              <a:prstGeom prst="line">
                <a:avLst/>
              </a:prstGeom>
              <a:noFill/>
              <a:ln w="12700">
                <a:solidFill>
                  <a:srgbClr val="2F5D8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unnel 59"/>
              <p:cNvSpPr/>
              <p:nvPr/>
            </p:nvSpPr>
            <p:spPr>
              <a:xfrm rot="16200000">
                <a:off x="3213665" y="1796795"/>
                <a:ext cx="914400" cy="914400"/>
              </a:xfrm>
              <a:prstGeom prst="flowChartMerge">
                <a:avLst/>
              </a:prstGeom>
              <a:solidFill>
                <a:srgbClr val="E8EEF5"/>
              </a:solidFill>
              <a:ln w="15875">
                <a:solidFill>
                  <a:srgbClr val="2F5D8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 60"/>
              <p:cNvSpPr txBox="1"/>
              <p:nvPr/>
            </p:nvSpPr>
            <p:spPr>
              <a:xfrm>
                <a:off x="3213665" y="2162555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Σ rank</a:t>
                </a:r>
                <a:endParaRPr lang="en-US" sz="900" dirty="0"/>
              </a:p>
            </p:txBody>
          </p:sp>
          <p:sp>
            <p:nvSpPr>
              <p:cNvPr id="62" name="text 61"/>
              <p:cNvSpPr txBox="1"/>
              <p:nvPr/>
            </p:nvSpPr>
            <p:spPr>
              <a:xfrm>
                <a:off x="3030786" y="1696860"/>
                <a:ext cx="152704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i="1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</a:t>
                </a:r>
                <a:r>
                  <a:rPr lang="en-US" sz="675" i="1" baseline="-4000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</a:t>
                </a:r>
                <a:r>
                  <a:rPr lang="en-US" sz="90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= </a:t>
                </a:r>
                <a:r>
                  <a:rPr lang="en-US" sz="900" i="1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r</a:t>
                </a:r>
                <a:r>
                  <a:rPr lang="en-US" sz="675" baseline="3000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LM</a:t>
                </a:r>
                <a:r>
                  <a:rPr lang="en-US" sz="90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+ </a:t>
                </a:r>
                <a:r>
                  <a:rPr lang="en-US" sz="900" i="1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r</a:t>
                </a:r>
                <a:r>
                  <a:rPr lang="en-US" sz="675" baseline="30000" dirty="0">
                    <a:solidFill>
                      <a:srgbClr val="2F5D8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GBM</a:t>
                </a:r>
                <a:endParaRPr lang="en-US" sz="900" dirty="0"/>
              </a:p>
            </p:txBody>
          </p:sp>
          <p:sp>
            <p:nvSpPr>
              <p:cNvPr id="63" name="connector 62"/>
              <p:cNvSpPr/>
              <p:nvPr/>
            </p:nvSpPr>
            <p:spPr>
              <a:xfrm flipV="1">
                <a:off x="4128065" y="1961387"/>
                <a:ext cx="109728" cy="292608"/>
              </a:xfrm>
              <a:prstGeom prst="line">
                <a:avLst/>
              </a:prstGeom>
              <a:noFill/>
              <a:ln w="13970">
                <a:solidFill>
                  <a:srgbClr val="A0574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connector 63"/>
              <p:cNvSpPr/>
              <p:nvPr/>
            </p:nvSpPr>
            <p:spPr>
              <a:xfrm>
                <a:off x="4128065" y="2253995"/>
                <a:ext cx="109728" cy="292608"/>
              </a:xfrm>
              <a:prstGeom prst="line">
                <a:avLst/>
              </a:prstGeom>
              <a:noFill/>
              <a:ln w="12700">
                <a:solidFill>
                  <a:srgbClr val="4E7D5B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escalated 64"/>
              <p:cNvSpPr/>
              <p:nvPr/>
            </p:nvSpPr>
            <p:spPr>
              <a:xfrm>
                <a:off x="4274369" y="1906523"/>
                <a:ext cx="100584" cy="100584"/>
              </a:xfrm>
              <a:prstGeom prst="ellipse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escalated 65"/>
              <p:cNvSpPr/>
              <p:nvPr/>
            </p:nvSpPr>
            <p:spPr>
              <a:xfrm>
                <a:off x="4411529" y="1906523"/>
                <a:ext cx="100584" cy="100584"/>
              </a:xfrm>
              <a:prstGeom prst="ellipse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waiting 66"/>
              <p:cNvSpPr/>
              <p:nvPr/>
            </p:nvSpPr>
            <p:spPr>
              <a:xfrm>
                <a:off x="4274369" y="2500883"/>
                <a:ext cx="100584" cy="10058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waiting 67"/>
              <p:cNvSpPr/>
              <p:nvPr/>
            </p:nvSpPr>
            <p:spPr>
              <a:xfrm>
                <a:off x="4411529" y="2500883"/>
                <a:ext cx="100584" cy="10058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69"/>
              <p:cNvSpPr txBox="1"/>
              <p:nvPr/>
            </p:nvSpPr>
            <p:spPr>
              <a:xfrm>
                <a:off x="3091226" y="2557652"/>
                <a:ext cx="152704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i="1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A</a:t>
                </a:r>
                <a:r>
                  <a:rPr lang="en-US" sz="675" i="1" baseline="-40000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k</a:t>
                </a:r>
                <a:r>
                  <a:rPr lang="en-US" sz="900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 |</a:t>
                </a:r>
                <a:r>
                  <a:rPr lang="en-US" sz="900" i="1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A</a:t>
                </a:r>
                <a:r>
                  <a:rPr lang="en-US" sz="675" i="1" baseline="-40000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k</a:t>
                </a:r>
                <a:r>
                  <a:rPr lang="en-US" sz="900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| ≤ </a:t>
                </a:r>
                <a:r>
                  <a:rPr lang="en-US" sz="900" i="1" dirty="0">
                    <a:solidFill>
                      <a:srgbClr val="A0574A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b</a:t>
                </a:r>
                <a:endParaRPr lang="en-US" sz="900" dirty="0"/>
              </a:p>
            </p:txBody>
          </p:sp>
          <p:sp>
            <p:nvSpPr>
              <p:cNvPr id="71" name="text 70"/>
              <p:cNvSpPr txBox="1"/>
              <p:nvPr/>
            </p:nvSpPr>
            <p:spPr>
              <a:xfrm>
                <a:off x="3106726" y="2746628"/>
                <a:ext cx="1527048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i="1" dirty="0">
                    <a:solidFill>
                      <a:srgbClr val="8C8C8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vs oldest-first: top b by e</a:t>
                </a:r>
                <a:r>
                  <a:rPr lang="en-US" sz="700" i="1" baseline="-40000" dirty="0">
                    <a:solidFill>
                      <a:srgbClr val="8C8C8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</a:t>
                </a:r>
                <a:endParaRPr lang="en-US" sz="700" dirty="0"/>
              </a:p>
            </p:txBody>
          </p:sp>
          <p:sp>
            <p:nvSpPr>
              <p:cNvPr id="72" name="connector 71"/>
              <p:cNvSpPr/>
              <p:nvPr/>
            </p:nvSpPr>
            <p:spPr>
              <a:xfrm>
                <a:off x="4571549" y="2258471"/>
                <a:ext cx="137160" cy="5671"/>
              </a:xfrm>
              <a:prstGeom prst="line">
                <a:avLst/>
              </a:prstGeom>
              <a:noFill/>
              <a:ln w="12700">
                <a:solidFill>
                  <a:srgbClr val="595959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72"/>
              <p:cNvSpPr txBox="1"/>
              <p:nvPr/>
            </p:nvSpPr>
            <p:spPr>
              <a:xfrm>
                <a:off x="4749130" y="1763837"/>
                <a:ext cx="129844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Replay  </a:t>
                </a:r>
                <a:r>
                  <a:rPr lang="en-US" sz="700" i="1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α</a:t>
                </a:r>
                <a:r>
                  <a:rPr lang="en-US" sz="7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 </a:t>
                </a:r>
                <a:r>
                  <a:rPr lang="en-US" sz="700" i="1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δ</a:t>
                </a:r>
                <a:r>
                  <a:rPr lang="en-US" sz="70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 </a:t>
                </a:r>
                <a:r>
                  <a:rPr lang="en-US" sz="700" i="1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B</a:t>
                </a:r>
                <a:endParaRPr lang="en-US" sz="700" dirty="0"/>
              </a:p>
            </p:txBody>
          </p:sp>
          <p:sp>
            <p:nvSpPr>
              <p:cNvPr id="74" name="text 73"/>
              <p:cNvSpPr txBox="1"/>
              <p:nvPr/>
            </p:nvSpPr>
            <p:spPr>
              <a:xfrm>
                <a:off x="4751340" y="1906523"/>
                <a:ext cx="548640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750" dirty="0">
                    <a:solidFill>
                      <a:srgbClr val="595959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Line A</a:t>
                </a:r>
                <a:endParaRPr lang="en-US" sz="900" dirty="0"/>
              </a:p>
            </p:txBody>
          </p:sp>
          <p:sp>
            <p:nvSpPr>
              <p:cNvPr id="75" name="train 74"/>
              <p:cNvSpPr/>
              <p:nvPr/>
            </p:nvSpPr>
            <p:spPr>
              <a:xfrm>
                <a:off x="4769628" y="2061971"/>
                <a:ext cx="779069" cy="146304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validation 75"/>
              <p:cNvSpPr/>
              <p:nvPr/>
            </p:nvSpPr>
            <p:spPr>
              <a:xfrm>
                <a:off x="5548697" y="2061971"/>
                <a:ext cx="259690" cy="146304"/>
              </a:xfrm>
              <a:prstGeom prst="rect">
                <a:avLst/>
              </a:prstGeom>
              <a:solidFill>
                <a:srgbClr val="CFCFC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test 76"/>
              <p:cNvSpPr/>
              <p:nvPr/>
            </p:nvSpPr>
            <p:spPr>
              <a:xfrm>
                <a:off x="5808386" y="2061971"/>
                <a:ext cx="259690" cy="146304"/>
              </a:xfrm>
              <a:prstGeom prst="rect">
                <a:avLst/>
              </a:prstGeom>
              <a:solidFill>
                <a:srgbClr val="E8EEF5"/>
              </a:solidFill>
              <a:ln w="6350">
                <a:solidFill>
                  <a:srgbClr val="2F5D8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rolling origin 77"/>
              <p:cNvSpPr/>
              <p:nvPr/>
            </p:nvSpPr>
            <p:spPr>
              <a:xfrm>
                <a:off x="5652573" y="224485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rolling origin 78"/>
              <p:cNvSpPr/>
              <p:nvPr/>
            </p:nvSpPr>
            <p:spPr>
              <a:xfrm>
                <a:off x="5756448" y="224485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rolling origin 79"/>
              <p:cNvSpPr/>
              <p:nvPr/>
            </p:nvSpPr>
            <p:spPr>
              <a:xfrm>
                <a:off x="5860324" y="224485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rolling origin 80"/>
              <p:cNvSpPr/>
              <p:nvPr/>
            </p:nvSpPr>
            <p:spPr>
              <a:xfrm>
                <a:off x="5964200" y="224485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 81"/>
              <p:cNvSpPr txBox="1"/>
              <p:nvPr/>
            </p:nvSpPr>
            <p:spPr>
              <a:xfrm>
                <a:off x="4757426" y="2260853"/>
                <a:ext cx="548640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750" dirty="0">
                    <a:solidFill>
                      <a:srgbClr val="595959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Line B</a:t>
                </a:r>
                <a:endParaRPr lang="en-US" sz="900" dirty="0"/>
              </a:p>
            </p:txBody>
          </p:sp>
          <p:sp>
            <p:nvSpPr>
              <p:cNvPr id="83" name="train 82"/>
              <p:cNvSpPr/>
              <p:nvPr/>
            </p:nvSpPr>
            <p:spPr>
              <a:xfrm>
                <a:off x="4775714" y="2416301"/>
                <a:ext cx="779069" cy="146304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validation 83"/>
              <p:cNvSpPr/>
              <p:nvPr/>
            </p:nvSpPr>
            <p:spPr>
              <a:xfrm>
                <a:off x="5554783" y="2416301"/>
                <a:ext cx="259690" cy="146304"/>
              </a:xfrm>
              <a:prstGeom prst="rect">
                <a:avLst/>
              </a:prstGeom>
              <a:solidFill>
                <a:srgbClr val="CFCFC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st 84"/>
              <p:cNvSpPr/>
              <p:nvPr/>
            </p:nvSpPr>
            <p:spPr>
              <a:xfrm>
                <a:off x="5814472" y="2416301"/>
                <a:ext cx="259690" cy="146304"/>
              </a:xfrm>
              <a:prstGeom prst="rect">
                <a:avLst/>
              </a:prstGeom>
              <a:solidFill>
                <a:srgbClr val="E8EEF5"/>
              </a:solidFill>
              <a:ln w="6350">
                <a:solidFill>
                  <a:srgbClr val="2F5D8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rolling origin 85"/>
              <p:cNvSpPr/>
              <p:nvPr/>
            </p:nvSpPr>
            <p:spPr>
              <a:xfrm>
                <a:off x="5658659" y="259918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rolling origin 86"/>
              <p:cNvSpPr/>
              <p:nvPr/>
            </p:nvSpPr>
            <p:spPr>
              <a:xfrm>
                <a:off x="5762534" y="259918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rolling origin 87"/>
              <p:cNvSpPr/>
              <p:nvPr/>
            </p:nvSpPr>
            <p:spPr>
              <a:xfrm>
                <a:off x="5866410" y="259918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rolling origin 88"/>
              <p:cNvSpPr/>
              <p:nvPr/>
            </p:nvSpPr>
            <p:spPr>
              <a:xfrm>
                <a:off x="5970286" y="2599181"/>
                <a:ext cx="90891" cy="54864"/>
              </a:xfrm>
              <a:prstGeom prst="rect">
                <a:avLst/>
              </a:prstGeom>
              <a:solidFill>
                <a:srgbClr val="2F5D8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 89"/>
              <p:cNvSpPr txBox="1"/>
              <p:nvPr/>
            </p:nvSpPr>
            <p:spPr>
              <a:xfrm>
                <a:off x="4771142" y="2654045"/>
                <a:ext cx="1298448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8C8C8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train · val · test</a:t>
                </a:r>
                <a:endParaRPr lang="en-US" sz="900" dirty="0"/>
              </a:p>
            </p:txBody>
          </p:sp>
          <p:sp>
            <p:nvSpPr>
              <p:cNvPr id="91" name="text 90"/>
              <p:cNvSpPr txBox="1"/>
              <p:nvPr/>
            </p:nvSpPr>
            <p:spPr>
              <a:xfrm>
                <a:off x="4807493" y="2718765"/>
                <a:ext cx="1298448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dirty="0">
                    <a:solidFill>
                      <a:srgbClr val="262626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10 hypotheses</a:t>
                </a:r>
                <a:endParaRPr lang="en-US" sz="650" dirty="0"/>
              </a:p>
              <a:p>
                <a:pPr marL="0" indent="0" algn="ctr">
                  <a:buNone/>
                </a:pPr>
                <a:r>
                  <a:rPr lang="en-US" sz="650" dirty="0">
                    <a:solidFill>
                      <a:srgbClr val="8C8C8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rolling origins, bootstrap</a:t>
                </a:r>
                <a:endParaRPr lang="en-US" sz="65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3D2AB3C-EEFD-2BEB-07C0-CE10EC4A6680}"/>
                      </a:ext>
                    </a:extLst>
                  </p:cNvPr>
                  <p:cNvSpPr txBox="1"/>
                  <p:nvPr/>
                </p:nvSpPr>
                <p:spPr>
                  <a:xfrm>
                    <a:off x="2322923" y="2806141"/>
                    <a:ext cx="370038" cy="14619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95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9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9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95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9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5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9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95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95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3D2AB3C-EEFD-2BEB-07C0-CE10EC4A66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2923" y="2806141"/>
                    <a:ext cx="370038" cy="1461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33" t="-4167" r="-11667" b="-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119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framework</dc:title>
  <dc:subject>PptxGenJS Presentation</dc:subject>
  <dc:creator>PptxGenJS</dc:creator>
  <cp:lastModifiedBy>user</cp:lastModifiedBy>
  <cp:revision>3</cp:revision>
  <dcterms:created xsi:type="dcterms:W3CDTF">2026-11-01T12:20:27Z</dcterms:created>
  <dcterms:modified xsi:type="dcterms:W3CDTF">2026-11-01T13:29:58Z</dcterms:modified>
</cp:coreProperties>
</file>